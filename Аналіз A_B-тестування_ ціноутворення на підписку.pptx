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Nuni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3c14a7d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3c14a7d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3c14a7d9d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3c14a7d9d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3c14a7d9d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3c14a7d9d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3c14a7d9d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3c14a7d9d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3c14a7d9d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93c14a7d9d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3c14a7d9d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93c14a7d9d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93c14a7d9d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93c14a7d9d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3c14a7d9d_0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3c14a7d9d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3c14a7d9d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93c14a7d9d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417475" y="425975"/>
            <a:ext cx="8303400" cy="1872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ct val="28947"/>
              <a:buFont typeface="Arial"/>
              <a:buNone/>
            </a:pPr>
            <a:r>
              <a:t/>
            </a:r>
            <a:endParaRPr/>
          </a:p>
          <a:p>
            <a:pPr indent="0" lvl="0" marL="0" rtl="0" algn="ctr">
              <a:spcBef>
                <a:spcPts val="0"/>
              </a:spcBef>
              <a:spcAft>
                <a:spcPts val="0"/>
              </a:spcAft>
              <a:buClr>
                <a:schemeClr val="dk1"/>
              </a:buClr>
              <a:buSzPct val="39758"/>
              <a:buFont typeface="Arial"/>
              <a:buNone/>
            </a:pPr>
            <a:r>
              <a:rPr b="1" lang="uk" sz="2766">
                <a:solidFill>
                  <a:srgbClr val="1F1F1F"/>
                </a:solidFill>
                <a:highlight>
                  <a:srgbClr val="F8F9FA"/>
                </a:highlight>
                <a:latin typeface="Times New Roman"/>
                <a:ea typeface="Times New Roman"/>
                <a:cs typeface="Times New Roman"/>
                <a:sym typeface="Times New Roman"/>
              </a:rPr>
              <a:t>Аналіз A/B-тестування: ціноутворення на підписку</a:t>
            </a:r>
            <a:endParaRPr b="1" sz="2766">
              <a:solidFill>
                <a:srgbClr val="1F1F1F"/>
              </a:solidFill>
              <a:highlight>
                <a:srgbClr val="F8F9FA"/>
              </a:highlight>
              <a:latin typeface="Times New Roman"/>
              <a:ea typeface="Times New Roman"/>
              <a:cs typeface="Times New Roman"/>
              <a:sym typeface="Times New Roman"/>
            </a:endParaRPr>
          </a:p>
          <a:p>
            <a:pPr indent="0" lvl="0" marL="0" rtl="0" algn="ctr">
              <a:spcBef>
                <a:spcPts val="0"/>
              </a:spcBef>
              <a:spcAft>
                <a:spcPts val="0"/>
              </a:spcAft>
              <a:buNone/>
            </a:pPr>
            <a:r>
              <a:t/>
            </a:r>
            <a:endParaRPr b="1"/>
          </a:p>
        </p:txBody>
      </p:sp>
      <p:sp>
        <p:nvSpPr>
          <p:cNvPr id="129" name="Google Shape;129;p13"/>
          <p:cNvSpPr txBox="1"/>
          <p:nvPr>
            <p:ph idx="1" type="subTitle"/>
          </p:nvPr>
        </p:nvSpPr>
        <p:spPr>
          <a:xfrm>
            <a:off x="244500" y="2461050"/>
            <a:ext cx="8649300" cy="1522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uk" sz="2100">
                <a:solidFill>
                  <a:srgbClr val="1F1F1F"/>
                </a:solidFill>
                <a:highlight>
                  <a:srgbClr val="F8F9FA"/>
                </a:highlight>
              </a:rPr>
              <a:t>Щомісячна та щотижнева підписка</a:t>
            </a:r>
            <a:endParaRPr sz="2100">
              <a:solidFill>
                <a:srgbClr val="1F1F1F"/>
              </a:solidFill>
              <a:highlight>
                <a:srgbClr val="F8F9FA"/>
              </a:highlight>
            </a:endParaRPr>
          </a:p>
          <a:p>
            <a:pPr indent="0" lvl="0" marL="0" marR="38100" rtl="0" algn="ctr">
              <a:lnSpc>
                <a:spcPct val="128571"/>
              </a:lnSpc>
              <a:spcBef>
                <a:spcPts val="0"/>
              </a:spcBef>
              <a:spcAft>
                <a:spcPts val="0"/>
              </a:spcAft>
              <a:buClr>
                <a:schemeClr val="dk1"/>
              </a:buClr>
              <a:buSzPts val="1100"/>
              <a:buFont typeface="Arial"/>
              <a:buNone/>
            </a:pPr>
            <a:r>
              <a:rPr lang="uk" sz="2100">
                <a:solidFill>
                  <a:srgbClr val="1F1F1F"/>
                </a:solidFill>
                <a:highlight>
                  <a:srgbClr val="F8F9FA"/>
                </a:highlight>
              </a:rPr>
              <a:t>Країни Tier-1 | 7-денний A/B тест</a:t>
            </a:r>
            <a:endParaRPr sz="2100">
              <a:solidFill>
                <a:srgbClr val="1F1F1F"/>
              </a:solidFill>
              <a:highlight>
                <a:srgbClr val="F8F9FA"/>
              </a:highlight>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4650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Налаштування A/B тесту</a:t>
            </a:r>
            <a:endParaRPr/>
          </a:p>
        </p:txBody>
      </p:sp>
      <p:sp>
        <p:nvSpPr>
          <p:cNvPr id="135" name="Google Shape;135;p14"/>
          <p:cNvSpPr txBox="1"/>
          <p:nvPr>
            <p:ph idx="1" type="body"/>
          </p:nvPr>
        </p:nvSpPr>
        <p:spPr>
          <a:xfrm>
            <a:off x="486675" y="1215525"/>
            <a:ext cx="8061300" cy="3448200"/>
          </a:xfrm>
          <a:prstGeom prst="rect">
            <a:avLst/>
          </a:prstGeom>
        </p:spPr>
        <p:txBody>
          <a:bodyPr anchorCtr="0" anchor="t" bIns="91425" lIns="91425" spcFirstLastPara="1" rIns="91425" wrap="square" tIns="91425">
            <a:normAutofit fontScale="40000" lnSpcReduction="10000"/>
          </a:bodyPr>
          <a:lstStyle/>
          <a:p>
            <a:pPr indent="0" lvl="0" marL="0" rtl="0" algn="l">
              <a:lnSpc>
                <a:spcPct val="115000"/>
              </a:lnSpc>
              <a:spcBef>
                <a:spcPts val="0"/>
              </a:spcBef>
              <a:spcAft>
                <a:spcPts val="0"/>
              </a:spcAft>
              <a:buNone/>
            </a:pPr>
            <a:r>
              <a:rPr b="1" lang="uk" sz="5130">
                <a:latin typeface="Times New Roman"/>
                <a:ea typeface="Times New Roman"/>
                <a:cs typeface="Times New Roman"/>
                <a:sym typeface="Times New Roman"/>
              </a:rPr>
              <a:t>Що ми тестували: </a:t>
            </a:r>
            <a:endParaRPr b="1" sz="513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uk" sz="4300">
                <a:latin typeface="Times New Roman"/>
                <a:ea typeface="Times New Roman"/>
                <a:cs typeface="Times New Roman"/>
                <a:sym typeface="Times New Roman"/>
              </a:rPr>
              <a:t>Control: $5.99 / місячна підписка  + 3-денний період</a:t>
            </a:r>
            <a:endParaRPr sz="4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uk" sz="4300">
                <a:latin typeface="Times New Roman"/>
                <a:ea typeface="Times New Roman"/>
                <a:cs typeface="Times New Roman"/>
                <a:sym typeface="Times New Roman"/>
              </a:rPr>
              <a:t>Treatment: $2.99 / тижнева підписка + </a:t>
            </a:r>
            <a:r>
              <a:rPr lang="uk" sz="4300">
                <a:latin typeface="Times New Roman"/>
                <a:ea typeface="Times New Roman"/>
                <a:cs typeface="Times New Roman"/>
                <a:sym typeface="Times New Roman"/>
              </a:rPr>
              <a:t>3-денний період</a:t>
            </a:r>
            <a:endParaRPr sz="4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uk" sz="4300">
                <a:latin typeface="Times New Roman"/>
                <a:ea typeface="Times New Roman"/>
                <a:cs typeface="Times New Roman"/>
                <a:sym typeface="Times New Roman"/>
              </a:rPr>
              <a:t>Тест відбувався у 4 країнах Tier-1:</a:t>
            </a:r>
            <a:endParaRPr b="1" sz="4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uk" sz="4300">
                <a:latin typeface="Times New Roman"/>
                <a:ea typeface="Times New Roman"/>
                <a:cs typeface="Times New Roman"/>
                <a:sym typeface="Times New Roman"/>
              </a:rPr>
              <a:t>Австралія, Велика Британія, США та Канада.</a:t>
            </a:r>
            <a:endParaRPr sz="4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uk" sz="4300">
                <a:latin typeface="Times New Roman"/>
                <a:ea typeface="Times New Roman"/>
                <a:cs typeface="Times New Roman"/>
                <a:sym typeface="Times New Roman"/>
              </a:rPr>
              <a:t>Тривалість тесту: </a:t>
            </a:r>
            <a:r>
              <a:rPr lang="uk" sz="4300">
                <a:latin typeface="Times New Roman"/>
                <a:ea typeface="Times New Roman"/>
                <a:cs typeface="Times New Roman"/>
                <a:sym typeface="Times New Roman"/>
              </a:rPr>
              <a:t>7 днів.</a:t>
            </a:r>
            <a:endParaRPr sz="4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uk" sz="4300">
                <a:latin typeface="Times New Roman"/>
                <a:ea typeface="Times New Roman"/>
                <a:cs typeface="Times New Roman"/>
                <a:sym typeface="Times New Roman"/>
              </a:rPr>
              <a:t>Мета : </a:t>
            </a:r>
            <a:r>
              <a:rPr lang="uk" sz="4300">
                <a:latin typeface="Times New Roman"/>
                <a:ea typeface="Times New Roman"/>
                <a:cs typeface="Times New Roman"/>
                <a:sym typeface="Times New Roman"/>
              </a:rPr>
              <a:t>Максимізувати paid conversion та revenue per install.</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Перевірка достовірності даних </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uk" sz="2100">
                <a:solidFill>
                  <a:srgbClr val="1F1F1F"/>
                </a:solidFill>
                <a:highlight>
                  <a:srgbClr val="F8F9FA"/>
                </a:highlight>
                <a:latin typeface="Arial"/>
                <a:ea typeface="Arial"/>
                <a:cs typeface="Arial"/>
                <a:sym typeface="Arial"/>
              </a:rPr>
              <a:t>✔ Збалансований розподіл (~50/50)</a:t>
            </a:r>
            <a:endParaRPr sz="2100">
              <a:solidFill>
                <a:srgbClr val="1F1F1F"/>
              </a:solidFill>
              <a:highlight>
                <a:srgbClr val="F8F9FA"/>
              </a:highlight>
              <a:latin typeface="Arial"/>
              <a:ea typeface="Arial"/>
              <a:cs typeface="Arial"/>
              <a:sym typeface="Arial"/>
            </a:endParaRPr>
          </a:p>
          <a:p>
            <a:pPr indent="0" lvl="0" marL="0" rtl="0" algn="l">
              <a:spcBef>
                <a:spcPts val="1200"/>
              </a:spcBef>
              <a:spcAft>
                <a:spcPts val="0"/>
              </a:spcAft>
              <a:buNone/>
            </a:pPr>
            <a:r>
              <a:rPr lang="uk" sz="2100">
                <a:solidFill>
                  <a:srgbClr val="1F1F1F"/>
                </a:solidFill>
                <a:highlight>
                  <a:srgbClr val="F8F9FA"/>
                </a:highlight>
                <a:latin typeface="Arial"/>
                <a:ea typeface="Arial"/>
                <a:cs typeface="Arial"/>
                <a:sym typeface="Arial"/>
              </a:rPr>
              <a:t>✔ Відсутність перекосу країни</a:t>
            </a:r>
            <a:endParaRPr sz="2100">
              <a:solidFill>
                <a:srgbClr val="1F1F1F"/>
              </a:solidFill>
              <a:highlight>
                <a:srgbClr val="F8F9FA"/>
              </a:highlight>
              <a:latin typeface="Arial"/>
              <a:ea typeface="Arial"/>
              <a:cs typeface="Arial"/>
              <a:sym typeface="Arial"/>
            </a:endParaRPr>
          </a:p>
          <a:p>
            <a:pPr indent="0" lvl="0" marL="0" marR="38100" rtl="0" algn="l">
              <a:lnSpc>
                <a:spcPct val="128571"/>
              </a:lnSpc>
              <a:spcBef>
                <a:spcPts val="1200"/>
              </a:spcBef>
              <a:spcAft>
                <a:spcPts val="0"/>
              </a:spcAft>
              <a:buNone/>
            </a:pPr>
            <a:r>
              <a:rPr lang="uk" sz="2100">
                <a:solidFill>
                  <a:srgbClr val="1F1F1F"/>
                </a:solidFill>
                <a:highlight>
                  <a:srgbClr val="F8F9FA"/>
                </a:highlight>
                <a:latin typeface="Arial"/>
                <a:ea typeface="Arial"/>
                <a:cs typeface="Arial"/>
                <a:sym typeface="Arial"/>
              </a:rPr>
              <a:t>✔ Однакова тривалість тесту для обох груп</a:t>
            </a:r>
            <a:endParaRPr sz="2100">
              <a:solidFill>
                <a:srgbClr val="1F1F1F"/>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t/>
            </a:r>
            <a:endParaRPr sz="2100">
              <a:solidFill>
                <a:srgbClr val="1F1F1F"/>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uk" sz="2100">
                <a:solidFill>
                  <a:srgbClr val="1F1F1F"/>
                </a:solidFill>
                <a:highlight>
                  <a:srgbClr val="F8F9FA"/>
                </a:highlight>
                <a:latin typeface="Arial"/>
                <a:ea typeface="Arial"/>
                <a:cs typeface="Arial"/>
                <a:sym typeface="Arial"/>
              </a:rPr>
              <a:t>Висновок: Дані коректні, результати можна інтерпретувати</a:t>
            </a:r>
            <a:endParaRPr sz="2100">
              <a:solidFill>
                <a:srgbClr val="1F1F1F"/>
              </a:solidFill>
              <a:highlight>
                <a:srgbClr val="F8F9FA"/>
              </a:highlight>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3612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Огляд показників воронки продажів</a:t>
            </a:r>
            <a:endParaRPr/>
          </a:p>
        </p:txBody>
      </p:sp>
      <p:sp>
        <p:nvSpPr>
          <p:cNvPr id="147" name="Google Shape;147;p16"/>
          <p:cNvSpPr txBox="1"/>
          <p:nvPr>
            <p:ph idx="1" type="body"/>
          </p:nvPr>
        </p:nvSpPr>
        <p:spPr>
          <a:xfrm>
            <a:off x="819150" y="1160375"/>
            <a:ext cx="7505700" cy="3480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uk" sz="2200">
                <a:latin typeface="Times New Roman"/>
                <a:ea typeface="Times New Roman"/>
                <a:cs typeface="Times New Roman"/>
                <a:sym typeface="Times New Roman"/>
              </a:rPr>
              <a:t>Install → Trial → Paid → Revenue</a:t>
            </a:r>
            <a:endParaRPr b="1" sz="2200">
              <a:latin typeface="Times New Roman"/>
              <a:ea typeface="Times New Roman"/>
              <a:cs typeface="Times New Roman"/>
              <a:sym typeface="Times New Roman"/>
            </a:endParaRPr>
          </a:p>
          <a:p>
            <a:pPr indent="0" lvl="0" marL="0" rtl="0" algn="l">
              <a:spcBef>
                <a:spcPts val="1200"/>
              </a:spcBef>
              <a:spcAft>
                <a:spcPts val="0"/>
              </a:spcAft>
              <a:buNone/>
            </a:pPr>
            <a:r>
              <a:t/>
            </a:r>
            <a:endParaRPr b="1" sz="2200">
              <a:latin typeface="Times New Roman"/>
              <a:ea typeface="Times New Roman"/>
              <a:cs typeface="Times New Roman"/>
              <a:sym typeface="Times New Roman"/>
            </a:endParaRPr>
          </a:p>
          <a:p>
            <a:pPr indent="0" lvl="0" marL="0" rtl="0" algn="l">
              <a:spcBef>
                <a:spcPts val="1200"/>
              </a:spcBef>
              <a:spcAft>
                <a:spcPts val="0"/>
              </a:spcAft>
              <a:buNone/>
            </a:pPr>
            <a:r>
              <a:t/>
            </a:r>
            <a:endParaRPr b="1" sz="2200">
              <a:latin typeface="Times New Roman"/>
              <a:ea typeface="Times New Roman"/>
              <a:cs typeface="Times New Roman"/>
              <a:sym typeface="Times New Roman"/>
            </a:endParaRPr>
          </a:p>
          <a:p>
            <a:pPr indent="0" lvl="0" marL="0" rtl="0" algn="l">
              <a:spcBef>
                <a:spcPts val="1200"/>
              </a:spcBef>
              <a:spcAft>
                <a:spcPts val="0"/>
              </a:spcAft>
              <a:buNone/>
            </a:pPr>
            <a:r>
              <a:t/>
            </a:r>
            <a:endParaRPr b="1" sz="2200">
              <a:latin typeface="Times New Roman"/>
              <a:ea typeface="Times New Roman"/>
              <a:cs typeface="Times New Roman"/>
              <a:sym typeface="Times New Roman"/>
            </a:endParaRPr>
          </a:p>
          <a:p>
            <a:pPr indent="0" lvl="0" marL="0" rtl="0" algn="l">
              <a:spcBef>
                <a:spcPts val="1200"/>
              </a:spcBef>
              <a:spcAft>
                <a:spcPts val="0"/>
              </a:spcAft>
              <a:buNone/>
            </a:pPr>
            <a:r>
              <a:t/>
            </a:r>
            <a:endParaRPr b="1" sz="2200">
              <a:latin typeface="Times New Roman"/>
              <a:ea typeface="Times New Roman"/>
              <a:cs typeface="Times New Roman"/>
              <a:sym typeface="Times New Roman"/>
            </a:endParaRPr>
          </a:p>
          <a:p>
            <a:pPr indent="0" lvl="0" marL="0" rtl="0" algn="l">
              <a:spcBef>
                <a:spcPts val="1200"/>
              </a:spcBef>
              <a:spcAft>
                <a:spcPts val="0"/>
              </a:spcAft>
              <a:buNone/>
            </a:pPr>
            <a:r>
              <a:rPr b="1" lang="uk" sz="2200">
                <a:latin typeface="Times New Roman"/>
                <a:ea typeface="Times New Roman"/>
                <a:cs typeface="Times New Roman"/>
                <a:sym typeface="Times New Roman"/>
              </a:rPr>
              <a:t>Проаналізувавши не лише фінальний дохід, а всю воронку, щоб зрозуміти, де саме відбуваються зміни:</a:t>
            </a:r>
            <a:endParaRPr b="1" sz="2200">
              <a:latin typeface="Times New Roman"/>
              <a:ea typeface="Times New Roman"/>
              <a:cs typeface="Times New Roman"/>
              <a:sym typeface="Times New Roman"/>
            </a:endParaRPr>
          </a:p>
          <a:p>
            <a:pPr indent="0" lvl="0" marL="0" rtl="0" algn="l">
              <a:spcBef>
                <a:spcPts val="1200"/>
              </a:spcBef>
              <a:spcAft>
                <a:spcPts val="1200"/>
              </a:spcAft>
              <a:buNone/>
            </a:pPr>
            <a:r>
              <a:rPr b="1" lang="uk" sz="2200">
                <a:latin typeface="Times New Roman"/>
                <a:ea typeface="Times New Roman"/>
                <a:cs typeface="Times New Roman"/>
                <a:sym typeface="Times New Roman"/>
              </a:rPr>
              <a:t>на вході (trial), на оплаті (paid) чи в загальній економіці.</a:t>
            </a:r>
            <a:endParaRPr b="1" sz="2200">
              <a:latin typeface="Times New Roman"/>
              <a:ea typeface="Times New Roman"/>
              <a:cs typeface="Times New Roman"/>
              <a:sym typeface="Times New Roman"/>
            </a:endParaRPr>
          </a:p>
        </p:txBody>
      </p:sp>
      <p:pic>
        <p:nvPicPr>
          <p:cNvPr id="148" name="Google Shape;148;p16"/>
          <p:cNvPicPr preferRelativeResize="0"/>
          <p:nvPr/>
        </p:nvPicPr>
        <p:blipFill>
          <a:blip r:embed="rId3">
            <a:alphaModFix/>
          </a:blip>
          <a:stretch>
            <a:fillRect/>
          </a:stretch>
        </p:blipFill>
        <p:spPr>
          <a:xfrm>
            <a:off x="639250" y="1729029"/>
            <a:ext cx="7865500" cy="1685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txBox="1"/>
          <p:nvPr>
            <p:ph type="title"/>
          </p:nvPr>
        </p:nvSpPr>
        <p:spPr>
          <a:xfrm>
            <a:off x="819150" y="430425"/>
            <a:ext cx="7505700" cy="72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Trial Conversion Rate</a:t>
            </a:r>
            <a:endParaRPr/>
          </a:p>
        </p:txBody>
      </p:sp>
      <p:sp>
        <p:nvSpPr>
          <p:cNvPr id="154" name="Google Shape;154;p17"/>
          <p:cNvSpPr txBox="1"/>
          <p:nvPr>
            <p:ph idx="1" type="body"/>
          </p:nvPr>
        </p:nvSpPr>
        <p:spPr>
          <a:xfrm>
            <a:off x="567400" y="1157925"/>
            <a:ext cx="7757700" cy="352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У treatment ми бачимо </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зниження trial conversion.</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Це означає, що тижнева підписка </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виглядає менш привабливо </a:t>
            </a:r>
            <a:endParaRPr b="1" sz="1700">
              <a:latin typeface="Times New Roman"/>
              <a:ea typeface="Times New Roman"/>
              <a:cs typeface="Times New Roman"/>
              <a:sym typeface="Times New Roman"/>
            </a:endParaRPr>
          </a:p>
          <a:p>
            <a:pPr indent="0" lvl="0" marL="0" rtl="0" algn="l">
              <a:spcBef>
                <a:spcPts val="1200"/>
              </a:spcBef>
              <a:spcAft>
                <a:spcPts val="1200"/>
              </a:spcAft>
              <a:buNone/>
            </a:pPr>
            <a:r>
              <a:rPr b="1" lang="uk" sz="1700">
                <a:latin typeface="Times New Roman"/>
                <a:ea typeface="Times New Roman"/>
                <a:cs typeface="Times New Roman"/>
                <a:sym typeface="Times New Roman"/>
              </a:rPr>
              <a:t>на етапі входу.</a:t>
            </a:r>
            <a:endParaRPr b="1" sz="1700">
              <a:latin typeface="Times New Roman"/>
              <a:ea typeface="Times New Roman"/>
              <a:cs typeface="Times New Roman"/>
              <a:sym typeface="Times New Roman"/>
            </a:endParaRPr>
          </a:p>
        </p:txBody>
      </p:sp>
      <p:pic>
        <p:nvPicPr>
          <p:cNvPr id="155" name="Google Shape;155;p17"/>
          <p:cNvPicPr preferRelativeResize="0"/>
          <p:nvPr/>
        </p:nvPicPr>
        <p:blipFill>
          <a:blip r:embed="rId3">
            <a:alphaModFix/>
          </a:blip>
          <a:stretch>
            <a:fillRect/>
          </a:stretch>
        </p:blipFill>
        <p:spPr>
          <a:xfrm>
            <a:off x="4101724" y="1261651"/>
            <a:ext cx="4428600" cy="3200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txBox="1"/>
          <p:nvPr>
            <p:ph type="title"/>
          </p:nvPr>
        </p:nvSpPr>
        <p:spPr>
          <a:xfrm>
            <a:off x="819150" y="511150"/>
            <a:ext cx="7505700" cy="71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Paid Conversion Rate</a:t>
            </a:r>
            <a:endParaRPr/>
          </a:p>
        </p:txBody>
      </p:sp>
      <p:sp>
        <p:nvSpPr>
          <p:cNvPr id="161" name="Google Shape;161;p18"/>
          <p:cNvSpPr txBox="1"/>
          <p:nvPr>
            <p:ph idx="1" type="body"/>
          </p:nvPr>
        </p:nvSpPr>
        <p:spPr>
          <a:xfrm>
            <a:off x="475150" y="1226950"/>
            <a:ext cx="7849800" cy="321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b="1" lang="uk" sz="1700">
                <a:latin typeface="Times New Roman"/>
                <a:ea typeface="Times New Roman"/>
                <a:cs typeface="Times New Roman"/>
                <a:sym typeface="Times New Roman"/>
              </a:rPr>
              <a:t>Незважаючи на нижчий trial CR, </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treatment показує вищу paid </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conversion. Це свідчить про те, що </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користувачі, які доходять до trial, </a:t>
            </a:r>
            <a:endParaRPr b="1" sz="1700">
              <a:latin typeface="Times New Roman"/>
              <a:ea typeface="Times New Roman"/>
              <a:cs typeface="Times New Roman"/>
              <a:sym typeface="Times New Roman"/>
            </a:endParaRPr>
          </a:p>
          <a:p>
            <a:pPr indent="0" lvl="0" marL="0" rtl="0" algn="l">
              <a:spcBef>
                <a:spcPts val="1200"/>
              </a:spcBef>
              <a:spcAft>
                <a:spcPts val="1200"/>
              </a:spcAft>
              <a:buNone/>
            </a:pPr>
            <a:r>
              <a:rPr b="1" lang="uk" sz="1700">
                <a:latin typeface="Times New Roman"/>
                <a:ea typeface="Times New Roman"/>
                <a:cs typeface="Times New Roman"/>
                <a:sym typeface="Times New Roman"/>
              </a:rPr>
              <a:t>частіше конвертуються в оплату.</a:t>
            </a:r>
            <a:endParaRPr b="1" sz="1700">
              <a:latin typeface="Times New Roman"/>
              <a:ea typeface="Times New Roman"/>
              <a:cs typeface="Times New Roman"/>
              <a:sym typeface="Times New Roman"/>
            </a:endParaRPr>
          </a:p>
        </p:txBody>
      </p:sp>
      <p:pic>
        <p:nvPicPr>
          <p:cNvPr id="162" name="Google Shape;162;p18"/>
          <p:cNvPicPr preferRelativeResize="0"/>
          <p:nvPr/>
        </p:nvPicPr>
        <p:blipFill>
          <a:blip r:embed="rId3">
            <a:alphaModFix/>
          </a:blip>
          <a:stretch>
            <a:fillRect/>
          </a:stretch>
        </p:blipFill>
        <p:spPr>
          <a:xfrm>
            <a:off x="4062181" y="1226950"/>
            <a:ext cx="4567144" cy="3211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9"/>
          <p:cNvSpPr txBox="1"/>
          <p:nvPr>
            <p:ph type="title"/>
          </p:nvPr>
        </p:nvSpPr>
        <p:spPr>
          <a:xfrm>
            <a:off x="819150" y="4073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Revenue per Install</a:t>
            </a:r>
            <a:endParaRPr/>
          </a:p>
        </p:txBody>
      </p:sp>
      <p:sp>
        <p:nvSpPr>
          <p:cNvPr id="168" name="Google Shape;168;p19"/>
          <p:cNvSpPr txBox="1"/>
          <p:nvPr>
            <p:ph idx="1" type="body"/>
          </p:nvPr>
        </p:nvSpPr>
        <p:spPr>
          <a:xfrm>
            <a:off x="498200" y="1361975"/>
            <a:ext cx="7826700" cy="3076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uk" sz="1700">
                <a:latin typeface="Times New Roman"/>
                <a:ea typeface="Times New Roman"/>
                <a:cs typeface="Times New Roman"/>
                <a:sym typeface="Times New Roman"/>
              </a:rPr>
              <a:t>Саме ця метрика визначає </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бізнес-рішення.</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Treatment показує позитивний </a:t>
            </a:r>
            <a:endParaRPr b="1" sz="1700">
              <a:latin typeface="Times New Roman"/>
              <a:ea typeface="Times New Roman"/>
              <a:cs typeface="Times New Roman"/>
              <a:sym typeface="Times New Roman"/>
            </a:endParaRPr>
          </a:p>
          <a:p>
            <a:pPr indent="0" lvl="0" marL="0" rtl="0" algn="l">
              <a:spcBef>
                <a:spcPts val="1200"/>
              </a:spcBef>
              <a:spcAft>
                <a:spcPts val="0"/>
              </a:spcAft>
              <a:buNone/>
            </a:pPr>
            <a:r>
              <a:rPr b="1" lang="uk" sz="1700">
                <a:latin typeface="Times New Roman"/>
                <a:ea typeface="Times New Roman"/>
                <a:cs typeface="Times New Roman"/>
                <a:sym typeface="Times New Roman"/>
              </a:rPr>
              <a:t>revenue uplift, тобто кожна інсталяція </a:t>
            </a:r>
            <a:endParaRPr b="1" sz="1700">
              <a:latin typeface="Times New Roman"/>
              <a:ea typeface="Times New Roman"/>
              <a:cs typeface="Times New Roman"/>
              <a:sym typeface="Times New Roman"/>
            </a:endParaRPr>
          </a:p>
          <a:p>
            <a:pPr indent="0" lvl="0" marL="0" rtl="0" algn="l">
              <a:spcBef>
                <a:spcPts val="1200"/>
              </a:spcBef>
              <a:spcAft>
                <a:spcPts val="1200"/>
              </a:spcAft>
              <a:buNone/>
            </a:pPr>
            <a:r>
              <a:rPr b="1" lang="uk" sz="1700">
                <a:latin typeface="Times New Roman"/>
                <a:ea typeface="Times New Roman"/>
                <a:cs typeface="Times New Roman"/>
                <a:sym typeface="Times New Roman"/>
              </a:rPr>
              <a:t>приносить більше грошей.</a:t>
            </a:r>
            <a:endParaRPr b="1" sz="1700">
              <a:latin typeface="Times New Roman"/>
              <a:ea typeface="Times New Roman"/>
              <a:cs typeface="Times New Roman"/>
              <a:sym typeface="Times New Roman"/>
            </a:endParaRPr>
          </a:p>
        </p:txBody>
      </p:sp>
      <p:pic>
        <p:nvPicPr>
          <p:cNvPr id="169" name="Google Shape;169;p19"/>
          <p:cNvPicPr preferRelativeResize="0"/>
          <p:nvPr/>
        </p:nvPicPr>
        <p:blipFill>
          <a:blip r:embed="rId3">
            <a:alphaModFix/>
          </a:blip>
          <a:stretch>
            <a:fillRect/>
          </a:stretch>
        </p:blipFill>
        <p:spPr>
          <a:xfrm>
            <a:off x="4327000" y="1238674"/>
            <a:ext cx="4427375" cy="3199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txBox="1"/>
          <p:nvPr>
            <p:ph type="title"/>
          </p:nvPr>
        </p:nvSpPr>
        <p:spPr>
          <a:xfrm>
            <a:off x="819150" y="395850"/>
            <a:ext cx="7505700" cy="70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Confidence Interval &amp; ризики</a:t>
            </a:r>
            <a:endParaRPr/>
          </a:p>
        </p:txBody>
      </p:sp>
      <p:sp>
        <p:nvSpPr>
          <p:cNvPr id="175" name="Google Shape;175;p20"/>
          <p:cNvSpPr txBox="1"/>
          <p:nvPr>
            <p:ph idx="1" type="body"/>
          </p:nvPr>
        </p:nvSpPr>
        <p:spPr>
          <a:xfrm>
            <a:off x="417475" y="1100250"/>
            <a:ext cx="8280300" cy="3713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b="1" sz="1700">
              <a:latin typeface="Times New Roman"/>
              <a:ea typeface="Times New Roman"/>
              <a:cs typeface="Times New Roman"/>
              <a:sym typeface="Times New Roman"/>
            </a:endParaRPr>
          </a:p>
          <a:p>
            <a:pPr indent="0" lvl="0" marL="0" rtl="0" algn="l">
              <a:spcBef>
                <a:spcPts val="1200"/>
              </a:spcBef>
              <a:spcAft>
                <a:spcPts val="1200"/>
              </a:spcAft>
              <a:buNone/>
            </a:pPr>
            <a:r>
              <a:rPr b="1" lang="uk" sz="1700">
                <a:latin typeface="Times New Roman"/>
                <a:ea typeface="Times New Roman"/>
                <a:cs typeface="Times New Roman"/>
                <a:sym typeface="Times New Roman"/>
              </a:rPr>
              <a:t>На основі статистично значущого росту paid CR та позитивного uplift навіть у нижній межі confidence interval, я рекомендую rollout treatment на всі Tier-1 країни з подальшим моніторингом retention та LTV.</a:t>
            </a:r>
            <a:endParaRPr b="1" sz="1700">
              <a:latin typeface="Times New Roman"/>
              <a:ea typeface="Times New Roman"/>
              <a:cs typeface="Times New Roman"/>
              <a:sym typeface="Times New Roman"/>
            </a:endParaRPr>
          </a:p>
        </p:txBody>
      </p:sp>
      <p:pic>
        <p:nvPicPr>
          <p:cNvPr id="176" name="Google Shape;176;p20"/>
          <p:cNvPicPr preferRelativeResize="0"/>
          <p:nvPr/>
        </p:nvPicPr>
        <p:blipFill>
          <a:blip r:embed="rId3">
            <a:alphaModFix/>
          </a:blip>
          <a:stretch>
            <a:fillRect/>
          </a:stretch>
        </p:blipFill>
        <p:spPr>
          <a:xfrm>
            <a:off x="327990" y="1252275"/>
            <a:ext cx="3787211" cy="2511925"/>
          </a:xfrm>
          <a:prstGeom prst="rect">
            <a:avLst/>
          </a:prstGeom>
          <a:noFill/>
          <a:ln>
            <a:noFill/>
          </a:ln>
        </p:spPr>
      </p:pic>
      <p:pic>
        <p:nvPicPr>
          <p:cNvPr id="177" name="Google Shape;177;p20"/>
          <p:cNvPicPr preferRelativeResize="0"/>
          <p:nvPr/>
        </p:nvPicPr>
        <p:blipFill>
          <a:blip r:embed="rId4">
            <a:alphaModFix/>
          </a:blip>
          <a:stretch>
            <a:fillRect/>
          </a:stretch>
        </p:blipFill>
        <p:spPr>
          <a:xfrm>
            <a:off x="4334325" y="1252275"/>
            <a:ext cx="4444174" cy="2511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819150" y="511150"/>
            <a:ext cx="7505700" cy="70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Аналіз по країнах</a:t>
            </a:r>
            <a:endParaRPr/>
          </a:p>
        </p:txBody>
      </p:sp>
      <p:sp>
        <p:nvSpPr>
          <p:cNvPr id="183" name="Google Shape;183;p21"/>
          <p:cNvSpPr txBox="1"/>
          <p:nvPr>
            <p:ph idx="1" type="body"/>
          </p:nvPr>
        </p:nvSpPr>
        <p:spPr>
          <a:xfrm>
            <a:off x="418600" y="3579700"/>
            <a:ext cx="8238900" cy="100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uk" sz="1700">
                <a:latin typeface="Times New Roman"/>
                <a:ea typeface="Times New Roman"/>
                <a:cs typeface="Times New Roman"/>
                <a:sym typeface="Times New Roman"/>
              </a:rPr>
              <a:t>Ми бачимо, що ефект нерівномірний між країнами, що відкриває можливість для country-based rollout.</a:t>
            </a:r>
            <a:endParaRPr b="1" sz="1700">
              <a:latin typeface="Times New Roman"/>
              <a:ea typeface="Times New Roman"/>
              <a:cs typeface="Times New Roman"/>
              <a:sym typeface="Times New Roman"/>
            </a:endParaRPr>
          </a:p>
        </p:txBody>
      </p:sp>
      <p:pic>
        <p:nvPicPr>
          <p:cNvPr id="184" name="Google Shape;184;p21"/>
          <p:cNvPicPr preferRelativeResize="0"/>
          <p:nvPr/>
        </p:nvPicPr>
        <p:blipFill>
          <a:blip r:embed="rId3">
            <a:alphaModFix/>
          </a:blip>
          <a:stretch>
            <a:fillRect/>
          </a:stretch>
        </p:blipFill>
        <p:spPr>
          <a:xfrm>
            <a:off x="418600" y="1215550"/>
            <a:ext cx="8238974" cy="2364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819150" y="326650"/>
            <a:ext cx="7505700" cy="56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Висновок і рекомендації</a:t>
            </a:r>
            <a:endParaRPr/>
          </a:p>
        </p:txBody>
      </p:sp>
      <p:sp>
        <p:nvSpPr>
          <p:cNvPr id="190" name="Google Shape;190;p22"/>
          <p:cNvSpPr txBox="1"/>
          <p:nvPr>
            <p:ph idx="1" type="body"/>
          </p:nvPr>
        </p:nvSpPr>
        <p:spPr>
          <a:xfrm>
            <a:off x="186825" y="892750"/>
            <a:ext cx="8614800" cy="4001700"/>
          </a:xfrm>
          <a:prstGeom prst="rect">
            <a:avLst/>
          </a:prstGeom>
        </p:spPr>
        <p:txBody>
          <a:bodyPr anchorCtr="0" anchor="ctr" bIns="91425" lIns="91425" spcFirstLastPara="1" rIns="91425" wrap="square" tIns="91425">
            <a:normAutofit lnSpcReduction="10000"/>
          </a:bodyPr>
          <a:lstStyle/>
          <a:p>
            <a:pPr indent="-298450" lvl="0" marL="457200" rtl="0" algn="l">
              <a:lnSpc>
                <a:spcPct val="100000"/>
              </a:lnSpc>
              <a:spcBef>
                <a:spcPts val="0"/>
              </a:spcBef>
              <a:spcAft>
                <a:spcPts val="0"/>
              </a:spcAft>
              <a:buClr>
                <a:srgbClr val="1F1F1F"/>
              </a:buClr>
              <a:buSzPts val="1100"/>
              <a:buFont typeface="Arial"/>
              <a:buChar char="●"/>
            </a:pPr>
            <a:r>
              <a:rPr lang="uk" sz="1200">
                <a:solidFill>
                  <a:srgbClr val="1F1F1F"/>
                </a:solidFill>
                <a:latin typeface="Times New Roman"/>
                <a:ea typeface="Times New Roman"/>
                <a:cs typeface="Times New Roman"/>
                <a:sym typeface="Times New Roman"/>
              </a:rPr>
              <a:t>↓ Trial CR у treatment. Користувачі частіше відмовляються на етапі пробного періоду</a:t>
            </a:r>
            <a:endParaRPr sz="1200">
              <a:solidFill>
                <a:srgbClr val="1F1F1F"/>
              </a:solidFill>
              <a:latin typeface="Times New Roman"/>
              <a:ea typeface="Times New Roman"/>
              <a:cs typeface="Times New Roman"/>
              <a:sym typeface="Times New Roman"/>
            </a:endParaRPr>
          </a:p>
          <a:p>
            <a:pPr indent="-298450" lvl="0" marL="457200" rtl="0" algn="l">
              <a:lnSpc>
                <a:spcPct val="100000"/>
              </a:lnSpc>
              <a:spcBef>
                <a:spcPts val="0"/>
              </a:spcBef>
              <a:spcAft>
                <a:spcPts val="0"/>
              </a:spcAft>
              <a:buClr>
                <a:srgbClr val="1F1F1F"/>
              </a:buClr>
              <a:buSzPts val="1100"/>
              <a:buFont typeface="Arial"/>
              <a:buChar char="●"/>
            </a:pPr>
            <a:r>
              <a:rPr lang="uk" sz="1200">
                <a:solidFill>
                  <a:srgbClr val="1F1F1F"/>
                </a:solidFill>
                <a:latin typeface="Times New Roman"/>
                <a:ea typeface="Times New Roman"/>
                <a:cs typeface="Times New Roman"/>
                <a:sym typeface="Times New Roman"/>
              </a:rPr>
              <a:t>↑ Paid CR у treatment. Статистично значущий ріст (p &lt; 0.05)</a:t>
            </a:r>
            <a:endParaRPr sz="1200">
              <a:solidFill>
                <a:srgbClr val="1F1F1F"/>
              </a:solidFill>
              <a:latin typeface="Times New Roman"/>
              <a:ea typeface="Times New Roman"/>
              <a:cs typeface="Times New Roman"/>
              <a:sym typeface="Times New Roman"/>
            </a:endParaRPr>
          </a:p>
          <a:p>
            <a:pPr indent="-298450" lvl="0" marL="457200" rtl="0" algn="l">
              <a:lnSpc>
                <a:spcPct val="100000"/>
              </a:lnSpc>
              <a:spcBef>
                <a:spcPts val="0"/>
              </a:spcBef>
              <a:spcAft>
                <a:spcPts val="0"/>
              </a:spcAft>
              <a:buClr>
                <a:srgbClr val="1F1F1F"/>
              </a:buClr>
              <a:buSzPts val="1100"/>
              <a:buFont typeface="Arial"/>
              <a:buChar char="●"/>
            </a:pPr>
            <a:r>
              <a:rPr lang="uk" sz="1200">
                <a:solidFill>
                  <a:srgbClr val="1F1F1F"/>
                </a:solidFill>
                <a:latin typeface="Times New Roman"/>
                <a:ea typeface="Times New Roman"/>
                <a:cs typeface="Times New Roman"/>
                <a:sym typeface="Times New Roman"/>
              </a:rPr>
              <a:t>↑ Revenue per Install. Позитивний uplift навіть у нижній межі CI</a:t>
            </a:r>
            <a:endParaRPr sz="1200">
              <a:solidFill>
                <a:srgbClr val="1F1F1F"/>
              </a:solidFill>
              <a:latin typeface="Times New Roman"/>
              <a:ea typeface="Times New Roman"/>
              <a:cs typeface="Times New Roman"/>
              <a:sym typeface="Times New Roman"/>
            </a:endParaRPr>
          </a:p>
          <a:p>
            <a:pPr indent="-298450" lvl="0" marL="457200" rtl="0" algn="l">
              <a:lnSpc>
                <a:spcPct val="100000"/>
              </a:lnSpc>
              <a:spcBef>
                <a:spcPts val="0"/>
              </a:spcBef>
              <a:spcAft>
                <a:spcPts val="0"/>
              </a:spcAft>
              <a:buClr>
                <a:srgbClr val="1F1F1F"/>
              </a:buClr>
              <a:buSzPts val="1100"/>
              <a:buFont typeface="Arial"/>
              <a:buChar char="●"/>
            </a:pPr>
            <a:r>
              <a:rPr lang="uk" sz="1200">
                <a:solidFill>
                  <a:srgbClr val="1F1F1F"/>
                </a:solidFill>
                <a:latin typeface="Times New Roman"/>
                <a:ea typeface="Times New Roman"/>
                <a:cs typeface="Times New Roman"/>
                <a:sym typeface="Times New Roman"/>
              </a:rPr>
              <a:t>Ефект підтверджений Z-test. Bootstrap CI для uplift </a:t>
            </a:r>
            <a:r>
              <a:rPr b="1" lang="uk" sz="1200">
                <a:solidFill>
                  <a:srgbClr val="1F1F1F"/>
                </a:solidFill>
                <a:latin typeface="Times New Roman"/>
                <a:ea typeface="Times New Roman"/>
                <a:cs typeface="Times New Roman"/>
                <a:sym typeface="Times New Roman"/>
              </a:rPr>
              <a:t>повністю &gt; 0</a:t>
            </a:r>
            <a:r>
              <a:rPr lang="uk" sz="1200">
                <a:solidFill>
                  <a:srgbClr val="1F1F1F"/>
                </a:solidFill>
                <a:latin typeface="Arial"/>
                <a:ea typeface="Arial"/>
                <a:cs typeface="Arial"/>
                <a:sym typeface="Arial"/>
              </a:rPr>
              <a:t> </a:t>
            </a:r>
            <a:endParaRPr sz="1200">
              <a:solidFill>
                <a:srgbClr val="1F1F1F"/>
              </a:solidFill>
              <a:latin typeface="Arial"/>
              <a:ea typeface="Arial"/>
              <a:cs typeface="Arial"/>
              <a:sym typeface="Arial"/>
            </a:endParaRPr>
          </a:p>
          <a:p>
            <a:pPr indent="177800" lvl="0" marL="88900" rtl="0" algn="l">
              <a:lnSpc>
                <a:spcPct val="100000"/>
              </a:lnSpc>
              <a:spcBef>
                <a:spcPts val="1200"/>
              </a:spcBef>
              <a:spcAft>
                <a:spcPts val="0"/>
              </a:spcAft>
              <a:buNone/>
            </a:pPr>
            <a:r>
              <a:rPr b="1" lang="uk" sz="1200">
                <a:solidFill>
                  <a:srgbClr val="1F1F1F"/>
                </a:solidFill>
                <a:latin typeface="Times New Roman"/>
                <a:ea typeface="Times New Roman"/>
                <a:cs typeface="Times New Roman"/>
                <a:sym typeface="Times New Roman"/>
              </a:rPr>
              <a:t>Хоча weekly subscription зменшує trial conversion, вона значно підвищує paid conversion та дохід на інсталяцію. Це свідчить про те, що користувачі, які доходять до оплати, мають вищу готовність платити за коротший billing cycle.</a:t>
            </a:r>
            <a:endParaRPr b="1" sz="1200">
              <a:solidFill>
                <a:srgbClr val="1F1F1F"/>
              </a:solidFill>
              <a:latin typeface="Times New Roman"/>
              <a:ea typeface="Times New Roman"/>
              <a:cs typeface="Times New Roman"/>
              <a:sym typeface="Times New Roman"/>
            </a:endParaRPr>
          </a:p>
          <a:p>
            <a:pPr indent="266700" lvl="0" marL="0" rtl="0" algn="l">
              <a:lnSpc>
                <a:spcPct val="100000"/>
              </a:lnSpc>
              <a:spcBef>
                <a:spcPts val="1200"/>
              </a:spcBef>
              <a:spcAft>
                <a:spcPts val="0"/>
              </a:spcAft>
              <a:buNone/>
            </a:pPr>
            <a:r>
              <a:rPr lang="uk" sz="1200">
                <a:solidFill>
                  <a:srgbClr val="FF0000"/>
                </a:solidFill>
                <a:latin typeface="Times New Roman"/>
                <a:ea typeface="Times New Roman"/>
                <a:cs typeface="Times New Roman"/>
                <a:sym typeface="Times New Roman"/>
              </a:rPr>
              <a:t>Потенційні ризики: </a:t>
            </a:r>
            <a:endParaRPr sz="1200">
              <a:solidFill>
                <a:srgbClr val="FF0000"/>
              </a:solidFill>
              <a:latin typeface="Times New Roman"/>
              <a:ea typeface="Times New Roman"/>
              <a:cs typeface="Times New Roman"/>
              <a:sym typeface="Times New Roman"/>
            </a:endParaRPr>
          </a:p>
          <a:p>
            <a:pPr indent="-228600" lvl="0" marL="444500" rtl="0" algn="l">
              <a:lnSpc>
                <a:spcPct val="100000"/>
              </a:lnSpc>
              <a:spcBef>
                <a:spcPts val="0"/>
              </a:spcBef>
              <a:spcAft>
                <a:spcPts val="0"/>
              </a:spcAft>
              <a:buNone/>
            </a:pPr>
            <a:r>
              <a:rPr lang="uk" sz="1200">
                <a:solidFill>
                  <a:srgbClr val="FF0000"/>
                </a:solidFill>
                <a:latin typeface="Arial"/>
                <a:ea typeface="Arial"/>
                <a:cs typeface="Arial"/>
                <a:sym typeface="Arial"/>
              </a:rPr>
              <a:t>·</a:t>
            </a:r>
            <a:r>
              <a:rPr lang="uk" sz="700">
                <a:solidFill>
                  <a:srgbClr val="FF0000"/>
                </a:solidFill>
                <a:latin typeface="Times New Roman"/>
                <a:ea typeface="Times New Roman"/>
                <a:cs typeface="Times New Roman"/>
                <a:sym typeface="Times New Roman"/>
              </a:rPr>
              <a:t>       </a:t>
            </a:r>
            <a:r>
              <a:rPr lang="uk" sz="1200">
                <a:solidFill>
                  <a:srgbClr val="FF0000"/>
                </a:solidFill>
                <a:latin typeface="Times New Roman"/>
                <a:ea typeface="Times New Roman"/>
                <a:cs typeface="Times New Roman"/>
                <a:sym typeface="Times New Roman"/>
              </a:rPr>
              <a:t>Можливе зростання churn через короткий billing cycle</a:t>
            </a:r>
            <a:endParaRPr sz="1200">
              <a:solidFill>
                <a:srgbClr val="FF0000"/>
              </a:solidFill>
              <a:latin typeface="Times New Roman"/>
              <a:ea typeface="Times New Roman"/>
              <a:cs typeface="Times New Roman"/>
              <a:sym typeface="Times New Roman"/>
            </a:endParaRPr>
          </a:p>
          <a:p>
            <a:pPr indent="-228600" lvl="0" marL="444500" rtl="0" algn="l">
              <a:lnSpc>
                <a:spcPct val="100000"/>
              </a:lnSpc>
              <a:spcBef>
                <a:spcPts val="0"/>
              </a:spcBef>
              <a:spcAft>
                <a:spcPts val="0"/>
              </a:spcAft>
              <a:buNone/>
            </a:pPr>
            <a:r>
              <a:rPr lang="uk" sz="1200">
                <a:solidFill>
                  <a:srgbClr val="FF0000"/>
                </a:solidFill>
                <a:latin typeface="Arial"/>
                <a:ea typeface="Arial"/>
                <a:cs typeface="Arial"/>
                <a:sym typeface="Arial"/>
              </a:rPr>
              <a:t>·</a:t>
            </a:r>
            <a:r>
              <a:rPr lang="uk" sz="700">
                <a:solidFill>
                  <a:srgbClr val="FF0000"/>
                </a:solidFill>
                <a:latin typeface="Times New Roman"/>
                <a:ea typeface="Times New Roman"/>
                <a:cs typeface="Times New Roman"/>
                <a:sym typeface="Times New Roman"/>
              </a:rPr>
              <a:t>       </a:t>
            </a:r>
            <a:r>
              <a:rPr lang="uk" sz="1200">
                <a:solidFill>
                  <a:srgbClr val="FF0000"/>
                </a:solidFill>
                <a:latin typeface="Times New Roman"/>
                <a:ea typeface="Times New Roman"/>
                <a:cs typeface="Times New Roman"/>
                <a:sym typeface="Times New Roman"/>
              </a:rPr>
              <a:t>Вплив на довгостроковий LTV поки що не виміряний (тільки 1M revenue)</a:t>
            </a:r>
            <a:endParaRPr sz="1200">
              <a:solidFill>
                <a:srgbClr val="FF0000"/>
              </a:solidFill>
              <a:latin typeface="Times New Roman"/>
              <a:ea typeface="Times New Roman"/>
              <a:cs typeface="Times New Roman"/>
              <a:sym typeface="Times New Roman"/>
            </a:endParaRPr>
          </a:p>
          <a:p>
            <a:pPr indent="88900" lvl="0" marL="177800" rtl="0" algn="l">
              <a:lnSpc>
                <a:spcPct val="100000"/>
              </a:lnSpc>
              <a:spcBef>
                <a:spcPts val="1200"/>
              </a:spcBef>
              <a:spcAft>
                <a:spcPts val="0"/>
              </a:spcAft>
              <a:buNone/>
            </a:pPr>
            <a:r>
              <a:rPr b="1" lang="uk" sz="1200">
                <a:solidFill>
                  <a:srgbClr val="1F1F1F"/>
                </a:solidFill>
                <a:latin typeface="Times New Roman"/>
                <a:ea typeface="Times New Roman"/>
                <a:cs typeface="Times New Roman"/>
                <a:sym typeface="Times New Roman"/>
              </a:rPr>
              <a:t>Рекомендується rollout treatment (weekly subscription) на Tier-1 країни з подальшим моніторингом churn, retention та LTV</a:t>
            </a:r>
            <a:r>
              <a:rPr lang="uk" sz="1200">
                <a:solidFill>
                  <a:srgbClr val="000000"/>
                </a:solidFill>
                <a:latin typeface="Times New Roman"/>
                <a:ea typeface="Times New Roman"/>
                <a:cs typeface="Times New Roman"/>
                <a:sym typeface="Times New Roman"/>
              </a:rPr>
              <a:t>.</a:t>
            </a:r>
            <a:endParaRPr sz="1200">
              <a:solidFill>
                <a:srgbClr val="000000"/>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uk" sz="1200">
                <a:solidFill>
                  <a:srgbClr val="000000"/>
                </a:solidFill>
                <a:latin typeface="Times New Roman"/>
                <a:ea typeface="Times New Roman"/>
                <a:cs typeface="Times New Roman"/>
                <a:sym typeface="Times New Roman"/>
              </a:rPr>
              <a:t>Next Steps</a:t>
            </a:r>
            <a:endParaRPr b="1" sz="1200">
              <a:solidFill>
                <a:srgbClr val="000000"/>
              </a:solidFill>
              <a:latin typeface="Times New Roman"/>
              <a:ea typeface="Times New Roman"/>
              <a:cs typeface="Times New Roman"/>
              <a:sym typeface="Times New Roman"/>
            </a:endParaRPr>
          </a:p>
          <a:p>
            <a:pPr indent="-298450" lvl="0" marL="457200" rtl="0" algn="l">
              <a:lnSpc>
                <a:spcPct val="100000"/>
              </a:lnSpc>
              <a:spcBef>
                <a:spcPts val="1200"/>
              </a:spcBef>
              <a:spcAft>
                <a:spcPts val="0"/>
              </a:spcAft>
              <a:buClr>
                <a:srgbClr val="000000"/>
              </a:buClr>
              <a:buSzPts val="1100"/>
              <a:buFont typeface="Arial"/>
              <a:buChar char="●"/>
            </a:pPr>
            <a:r>
              <a:rPr lang="uk" sz="1200">
                <a:solidFill>
                  <a:srgbClr val="000000"/>
                </a:solidFill>
                <a:latin typeface="Times New Roman"/>
                <a:ea typeface="Times New Roman"/>
                <a:cs typeface="Times New Roman"/>
                <a:sym typeface="Times New Roman"/>
              </a:rPr>
              <a:t>Запустити post-rollout monitoring dashboard</a:t>
            </a:r>
            <a:endParaRPr sz="1200">
              <a:solidFill>
                <a:srgbClr val="000000"/>
              </a:solidFill>
              <a:latin typeface="Times New Roman"/>
              <a:ea typeface="Times New Roman"/>
              <a:cs typeface="Times New Roman"/>
              <a:sym typeface="Times New Roman"/>
            </a:endParaRPr>
          </a:p>
          <a:p>
            <a:pPr indent="-298450" lvl="0" marL="457200" rtl="0" algn="l">
              <a:lnSpc>
                <a:spcPct val="100000"/>
              </a:lnSpc>
              <a:spcBef>
                <a:spcPts val="0"/>
              </a:spcBef>
              <a:spcAft>
                <a:spcPts val="0"/>
              </a:spcAft>
              <a:buClr>
                <a:srgbClr val="000000"/>
              </a:buClr>
              <a:buSzPts val="1100"/>
              <a:buFont typeface="Arial"/>
              <a:buChar char="●"/>
            </a:pPr>
            <a:r>
              <a:rPr lang="uk" sz="1200">
                <a:solidFill>
                  <a:srgbClr val="000000"/>
                </a:solidFill>
                <a:latin typeface="Times New Roman"/>
                <a:ea typeface="Times New Roman"/>
                <a:cs typeface="Times New Roman"/>
                <a:sym typeface="Times New Roman"/>
              </a:rPr>
              <a:t>Провести LTV-cohort аналіз через 4–6 тижнів</a:t>
            </a:r>
            <a:endParaRPr sz="1200">
              <a:solidFill>
                <a:srgbClr val="000000"/>
              </a:solidFill>
              <a:latin typeface="Times New Roman"/>
              <a:ea typeface="Times New Roman"/>
              <a:cs typeface="Times New Roman"/>
              <a:sym typeface="Times New Roman"/>
            </a:endParaRPr>
          </a:p>
          <a:p>
            <a:pPr indent="-298450" lvl="0" marL="457200" rtl="0" algn="l">
              <a:lnSpc>
                <a:spcPct val="100000"/>
              </a:lnSpc>
              <a:spcBef>
                <a:spcPts val="0"/>
              </a:spcBef>
              <a:spcAft>
                <a:spcPts val="0"/>
              </a:spcAft>
              <a:buClr>
                <a:srgbClr val="000000"/>
              </a:buClr>
              <a:buSzPts val="1100"/>
              <a:buFont typeface="Arial"/>
              <a:buChar char="●"/>
            </a:pPr>
            <a:r>
              <a:rPr lang="uk" sz="1200">
                <a:solidFill>
                  <a:srgbClr val="000000"/>
                </a:solidFill>
                <a:latin typeface="Times New Roman"/>
                <a:ea typeface="Times New Roman"/>
                <a:cs typeface="Times New Roman"/>
                <a:sym typeface="Times New Roman"/>
              </a:rPr>
              <a:t>Розглянути гібридну модель (weekly → monthly upsell)</a:t>
            </a:r>
            <a:endParaRPr sz="1200">
              <a:solidFill>
                <a:srgbClr val="000000"/>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t/>
            </a:r>
            <a:endParaRPr>
              <a:solidFill>
                <a:srgbClr val="1F1F1F"/>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