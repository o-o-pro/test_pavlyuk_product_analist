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F77D7E-F674-4F59-A444-AC65CF701E97}">
  <a:tblStyle styleId="{3AF77D7E-F674-4F59-A444-AC65CF701E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5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4.xml"/><Relationship Id="rId21" Type="http://schemas.openxmlformats.org/officeDocument/2006/relationships/font" Target="fonts/Nuni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7b93567d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7b93567d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3df936d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3df936d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3df936d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3df936d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df936d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3df936d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df936d0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3df936d0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3df936d0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3df936d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3df936d0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3df936d0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3df936d0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3df936d0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3df936d0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3df936d0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3df936d0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3df936d0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3df936d0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3df936d0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552900" y="1014725"/>
            <a:ext cx="80382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solidFill>
                  <a:srgbClr val="1F1F1F"/>
                </a:solidFill>
                <a:highlight>
                  <a:srgbClr val="F8F9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Прогнозування LTV користувача на 52 тижні</a:t>
            </a:r>
            <a:endParaRPr b="1" sz="3100">
              <a:solidFill>
                <a:srgbClr val="1F1F1F"/>
              </a:solidFill>
              <a:highlight>
                <a:srgbClr val="F8F9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552900" y="2749325"/>
            <a:ext cx="8038200" cy="15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Історичні дані доступні до 32 тижнів</a:t>
            </a:r>
            <a:endParaRPr b="1" sz="14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Мета: прогнозувати кумулятивний LTV через 52 тижні</a:t>
            </a:r>
            <a:endParaRPr b="1" sz="14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Забезпечити статистичну надійність та застосовність для бізнесу</a:t>
            </a:r>
            <a:endParaRPr b="1" sz="14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F1F1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534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790">
                <a:highlight>
                  <a:srgbClr val="F8F9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Огляд даних</a:t>
            </a:r>
            <a:endParaRPr b="1" sz="2790">
              <a:highlight>
                <a:srgbClr val="F8F9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365450"/>
            <a:ext cx="75057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8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Характеристики датасету:</a:t>
            </a:r>
            <a:endParaRPr b="1" sz="187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499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●"/>
            </a:pPr>
            <a:r>
              <a:rPr lang="uk" sz="18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6086 спостережень</a:t>
            </a:r>
            <a:endParaRPr sz="187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4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●"/>
            </a:pPr>
            <a:r>
              <a:rPr lang="uk" sz="18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Максимальний lifetime: 32 тижні</a:t>
            </a:r>
            <a:endParaRPr sz="187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4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●"/>
            </a:pPr>
            <a:r>
              <a:rPr lang="uk" sz="18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Метрика: кумулятивний LTV на користувача</a:t>
            </a:r>
            <a:endParaRPr sz="187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4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●"/>
            </a:pPr>
            <a:r>
              <a:rPr lang="uk" sz="18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Аналіз побудований на середньому LTV за кожним тижнем життя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430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79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Крива спостережуваного LTV</a:t>
            </a:r>
            <a:endParaRPr b="1" sz="279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00"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359825" y="1069275"/>
            <a:ext cx="3229200" cy="3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Динаміка зростання LTV</a:t>
            </a:r>
            <a:endParaRPr b="1" sz="21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909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Швидке зростання у перші 15–20 тижнів</a:t>
            </a:r>
            <a:br>
              <a:rPr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90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Подальше уповільнення приросту</a:t>
            </a:r>
            <a:br>
              <a:rPr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90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uk" sz="21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Ознаки насичення (saturation effect)</a:t>
            </a:r>
            <a:endParaRPr sz="21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850" y="1202975"/>
            <a:ext cx="5047679" cy="34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441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Порівняння моделей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761500" y="1396575"/>
            <a:ext cx="75057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20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Логарифмічна модель показала кращий R², але високий R² не гарантує стабільності прогнозу.</a:t>
            </a:r>
            <a:endParaRPr b="1" sz="20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" name="Google Shape;149;p16"/>
          <p:cNvGraphicFramePr/>
          <p:nvPr/>
        </p:nvGraphicFramePr>
        <p:xfrm>
          <a:off x="1298475" y="177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{3AF77D7E-F674-4F59-A444-AC65CF701E97}</a:tableStyleId>
              </a:tblPr>
              <a:tblGrid>
                <a:gridCol w="2911100"/>
                <a:gridCol w="2911100"/>
              </a:tblGrid>
              <a:tr h="53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Model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In-sample R²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3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Exponential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0.95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1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Logarithmic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0.98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726875" y="441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Перевірка стабільності (Out-of-Sample)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475150" y="1534950"/>
            <a:ext cx="8188200" cy="31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3450">
                <a:solidFill>
                  <a:srgbClr val="1F1F1F"/>
                </a:solidFill>
              </a:rPr>
              <a:t>Log модель продемонструвала негативний out-of-sample R², що свідчить про переобучення.</a:t>
            </a:r>
            <a:endParaRPr b="1" sz="345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3450">
                <a:solidFill>
                  <a:srgbClr val="1F1F1F"/>
                </a:solidFill>
              </a:rPr>
              <a:t>Тому фінальна модель — експоненційна.</a:t>
            </a:r>
            <a:endParaRPr b="1" sz="345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graphicFrame>
        <p:nvGraphicFramePr>
          <p:cNvPr id="156" name="Google Shape;156;p17"/>
          <p:cNvGraphicFramePr/>
          <p:nvPr/>
        </p:nvGraphicFramePr>
        <p:xfrm>
          <a:off x="1638650" y="170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{3AF77D7E-F674-4F59-A444-AC65CF701E97}</a:tableStyleId>
              </a:tblPr>
              <a:tblGrid>
                <a:gridCol w="2841075"/>
                <a:gridCol w="2841075"/>
              </a:tblGrid>
              <a:tr h="441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Model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OOS R²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Exponential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positive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Logarithmic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-7,88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4330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Остаточний прогноз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290625" y="1249250"/>
            <a:ext cx="3436800" cy="33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estimate: </a:t>
            </a:r>
            <a:r>
              <a:rPr b="1" lang="uk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17.91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uk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демонструє стабільну генералізацію</a:t>
            </a:r>
            <a:br>
              <a:rPr lang="uk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uk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Відсутні ознаки систематичної помилки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1F1F1F"/>
              </a:solidFill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425" y="1249252"/>
            <a:ext cx="4851224" cy="3262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749950" y="418900"/>
            <a:ext cx="76368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/>
              <a:t>Оцінка невизначеності (Bootstrap)</a:t>
            </a:r>
            <a:endParaRPr b="1"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636600" y="1224025"/>
            <a:ext cx="3148500" cy="3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Bootstrap-оцінка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Mean: 17,65</a:t>
            </a:r>
            <a:br>
              <a:rPr lang="uk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95% CI: [13.99 ; 18.54]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1F1F1F"/>
              </a:solidFill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550" y="1019175"/>
            <a:ext cx="4649901" cy="36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19150" y="488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Сценарний аналіз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819150" y="3393300"/>
            <a:ext cx="7505700" cy="1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2000">
                <a:solidFill>
                  <a:srgbClr val="1F1F1F"/>
                </a:solidFill>
              </a:rPr>
              <a:t>Для фінансового планування рекомендовано орієнтуватися на conservative або base сценарій.</a:t>
            </a:r>
            <a:endParaRPr b="1" sz="2000">
              <a:solidFill>
                <a:srgbClr val="1F1F1F"/>
              </a:solidFill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952500" y="144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{3AF77D7E-F674-4F59-A444-AC65CF701E97}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Scenario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2000"/>
                        <a:t>LTV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Conservative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14.94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Base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17.65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Optimistic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2000"/>
                        <a:t>18.47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19150" y="5457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Фінансовий вплив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19150" y="1500350"/>
            <a:ext cx="75057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rgbClr val="1F1F1F"/>
                </a:solidFill>
              </a:rPr>
              <a:t>100k users:</a:t>
            </a:r>
            <a:endParaRPr b="1" sz="20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uk" sz="2000">
                <a:solidFill>
                  <a:srgbClr val="1F1F1F"/>
                </a:solidFill>
              </a:rPr>
              <a:t>Conservative: $1.49M</a:t>
            </a:r>
            <a:endParaRPr b="1" sz="20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uk" sz="2000">
                <a:solidFill>
                  <a:srgbClr val="1F1F1F"/>
                </a:solidFill>
              </a:rPr>
              <a:t>Base: $1.77M</a:t>
            </a:r>
            <a:endParaRPr b="1" sz="20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uk" sz="2000">
                <a:solidFill>
                  <a:srgbClr val="1F1F1F"/>
                </a:solidFill>
              </a:rPr>
              <a:t>Optimistic: $1.85M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2000">
                <a:solidFill>
                  <a:srgbClr val="1F1F1F"/>
                </a:solidFill>
              </a:rPr>
              <a:t>Різниця між conservative та base сценарієм становить близько $350k на 100k користувачів, що є суттєвим для бюджетування.</a:t>
            </a:r>
            <a:endParaRPr b="1" sz="20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19150" y="418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79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Продуктові інсайти</a:t>
            </a:r>
            <a:endParaRPr b="1" sz="279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405950" y="1373500"/>
            <a:ext cx="83382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55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Ключові моменти:</a:t>
            </a:r>
            <a:endParaRPr b="1" sz="255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4091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Arial"/>
              <a:buChar char="●"/>
            </a:pPr>
            <a:r>
              <a:rPr b="1" lang="uk" sz="255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80–90% доходу генерується до 20-го тижня</a:t>
            </a:r>
            <a:endParaRPr b="1" sz="255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4091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Arial"/>
              <a:buChar char="●"/>
            </a:pPr>
            <a:r>
              <a:rPr b="1" lang="uk" sz="255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Раннє утримання клієнтів визначає більшу частину LTV</a:t>
            </a:r>
            <a:endParaRPr b="1" sz="255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4091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Arial"/>
              <a:buChar char="●"/>
            </a:pPr>
            <a:r>
              <a:rPr b="1" lang="uk" sz="255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Вплив монетизації довгострокових продажів обмежений</a:t>
            </a:r>
            <a:endParaRPr b="1" sz="255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242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Основна частина доходу формується на ранніх етапах життєвого циклу. Тому фокус на early retention та onboarding матиме найбільший вплив на LTV</a:t>
            </a:r>
            <a:endParaRPr sz="396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19150" y="418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Обмеження аналізу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819150" y="1373500"/>
            <a:ext cx="75057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Екстраполяція за межі спостережуваних даних</a:t>
            </a:r>
            <a:endParaRPr b="1"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Обмежені хвостові спостереження</a:t>
            </a:r>
            <a:endParaRPr b="1"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Передбачається стабільне утримання та ARPU</a:t>
            </a:r>
            <a:endParaRPr b="1"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819150" y="441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100"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Фінальна рекомендація</a:t>
            </a:r>
            <a:endParaRPr b="1" sz="3100"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532800" y="1396575"/>
            <a:ext cx="8130600" cy="32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Рекомендація:</a:t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Викор</a:t>
            </a: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стовуйте 17,91 як базовий LTV.</a:t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Бюджетуйте з використанням консервативного сценарію.</a:t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Зосередьтеся на покращенні утримання клієнтів протягом перших 20 тижнів.</a:t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uk" sz="21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Переоцініть модель, як тільки будуть доступні дані за 52 тижні.</a:t>
            </a:r>
            <a:endParaRPr sz="21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